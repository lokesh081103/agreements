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029200" cy="502920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TOOLING  ·  DATA &amp; REPORTING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Database Explorer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Report Generator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66928" y="41605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reporting app that replaces manual file-hunting and hand-built Excel pivots with live, server-side PostgreSQL queries — built for speed, scale, and accuracy.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21208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52120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93392" y="521208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521208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9272" y="5212080"/>
            <a:ext cx="859536" cy="384048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5212080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5212080"/>
            <a:ext cx="859536" cy="384048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5212080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was living inside spreadsheets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database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lived in Excel files scattered across shared drives and folders — step one of any report was hunting down the right 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039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Rebuilt from scratch, every time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found, the pivot table was rebuilt by hand — Rows, Columns, and Values dragged in fresh, with no memory of last time's setup.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46227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efficiency math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raw total into a "% of group" meant writing a divide formula in one cell, then copying it across every row and column by hand.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2062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46227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50749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 had different exported copies — different filters, different totals, different versions floating around.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three ways to get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Streamlit app connects straight to PostgreSQL. No exports, no copy-pasting — the data never leaves the database until the exact report you need is ready.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Report Builder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table, filter by date or category, choose your output columns, and get an instant report with auto-generated KPI cards and charts.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92140" y="24688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921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26280" y="3383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Table (Pivot)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Excel-style PivotTable — Filters, Rows, Columns, Values — built dynamically from any table, including multi-value columns and cumulative DPD buckets (1+ / 30+ / 90+).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41180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4411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75320" y="3383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SQL Query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114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power-user escape hatch: run any PostgreSQL query directly and download the results, for the one-off asks a pre-built screen can't cover.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click to answer, in one round trip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3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679192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choose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044952"/>
            <a:ext cx="2002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table + filters, Rows/Columns/Values in the sidebar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07792" y="2884932"/>
            <a:ext cx="265176" cy="219456"/>
          </a:xfrm>
          <a:prstGeom prst="rightArrow">
            <a:avLst/>
          </a:prstGeom>
          <a:solidFill>
            <a:srgbClr val="2E3A7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21488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64992" y="2679192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aggregates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3044952"/>
            <a:ext cx="2002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GROUP BY query computes SUM/COUNT/MIN/MAX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59552" y="2884932"/>
            <a:ext cx="265176" cy="219456"/>
          </a:xfrm>
          <a:prstGeom prst="rightArrow">
            <a:avLst/>
          </a:prstGeom>
          <a:solidFill>
            <a:srgbClr val="2E3A7A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21488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1675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3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16752" y="2679192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shapes 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16752" y="3044952"/>
            <a:ext cx="2002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aggregated result is pivoted, styled, bucketed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11312" y="2884932"/>
            <a:ext cx="265176" cy="219456"/>
          </a:xfrm>
          <a:prstGeom prst="rightArrow">
            <a:avLst/>
          </a:prstGeom>
          <a:solidFill>
            <a:srgbClr val="2E3A7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21488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6851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3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68512" y="2679192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 it instantly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68512" y="3044952"/>
            <a:ext cx="2002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chart, and CSV download — cached for next time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— Report Builder, Pivot, Chart — reads from the same live PostgreSQL tables. Nothing is duplicated into a spreadsheet.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193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3 layers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5532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— the source data, queried directly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51960" y="5532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engine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Pooled, reused connections — no reconnect per click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80960" y="5532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Pandas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and the pivot/shaping logic, in the browser tab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POSTGRESQL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does the heavy lifting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2E3A7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7063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reads the same live table directly — replacing the scattered exported files that used to drift out of sync across the team.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2E3A7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488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2148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aggregation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77063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SUM, COUNT are what a database engine is optimized for — far faster than doing the same sums by hand in Excel.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2E3A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389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past Excel's limits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109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struggles well before a few million rows, and files that size are painful to even open. PostgreSQL aggregates over that in one query.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2E3A7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4389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people, one dataset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50109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 can query the same tables at once through pooled connections — no more "who has the latest export" problems.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FAST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in the database, not in the browser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app's way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0" y="201168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shared drive for the right exported 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821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18211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Excel and load every row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782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407822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pivot table, then a divide formula for each efficiency 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9743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97433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the entire thing by hand next time the numbers are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22860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GROUP BY query to Postgres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1821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318211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COUNT / MIN / MAX computed inside the 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40782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95160" y="407822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small aggregated result comes 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9743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497433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reshapes it — totals and efficiency %s included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053328"/>
            <a:ext cx="10881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Example, straight from how it's built: a table with millions of rows collapses to a query that returns only hundreds or thousands of aggregated rows — that small result is what Pandas and the screen actually work with.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FAST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recomputed if it hasn't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expensive step is cached, so switching a filter or an aggregation choice reuses work already done instead of re-querying the database.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cached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2057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0" y="2057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every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25603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once, reused for the whole session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0" y="271576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0" y="27157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Session-long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46704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 lists, dropdown values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60720" y="334670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after the first lookup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0" y="350215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3502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33088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3308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pivot source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60720" y="413308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BY result behind the Summary Table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1200" y="428853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428853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19472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19472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ad-hoc query results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0" y="491947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instantly if repeated shortly after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01200" y="50749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50749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779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(TTLs) are kept short on purpose — fast enough to feel instant, short enough that data never goes stale for long.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LARGE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scales because the database does the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2E3A7A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of rows in the table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4526280" cy="2926080"/>
          </a:xfrm>
          <a:prstGeom prst="roundRect">
            <a:avLst>
              <a:gd name="adj" fmla="val 1875"/>
            </a:avLst>
          </a:prstGeom>
          <a:solidFill>
            <a:srgbClr val="3E4C99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" name="Shape 6"/>
          <p:cNvSpPr/>
          <p:nvPr/>
        </p:nvSpPr>
        <p:spPr>
          <a:xfrm>
            <a:off x="1339596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" name="Shape 7"/>
          <p:cNvSpPr/>
          <p:nvPr/>
        </p:nvSpPr>
        <p:spPr>
          <a:xfrm>
            <a:off x="1655064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" name="Shape 8"/>
          <p:cNvSpPr/>
          <p:nvPr/>
        </p:nvSpPr>
        <p:spPr>
          <a:xfrm>
            <a:off x="1970532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1468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16936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232404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5" name="Shape 13"/>
          <p:cNvSpPr/>
          <p:nvPr/>
        </p:nvSpPr>
        <p:spPr>
          <a:xfrm>
            <a:off x="3547872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6" name="Shape 14"/>
          <p:cNvSpPr/>
          <p:nvPr/>
        </p:nvSpPr>
        <p:spPr>
          <a:xfrm>
            <a:off x="3863340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7" name="Shape 15"/>
          <p:cNvSpPr/>
          <p:nvPr/>
        </p:nvSpPr>
        <p:spPr>
          <a:xfrm>
            <a:off x="4178808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8" name="Shape 16"/>
          <p:cNvSpPr/>
          <p:nvPr/>
        </p:nvSpPr>
        <p:spPr>
          <a:xfrm>
            <a:off x="4494276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9744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5212" y="269748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4128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39596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5064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70532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01468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6936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32404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29" name="Shape 27"/>
          <p:cNvSpPr/>
          <p:nvPr/>
        </p:nvSpPr>
        <p:spPr>
          <a:xfrm>
            <a:off x="3547872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0" name="Shape 28"/>
          <p:cNvSpPr/>
          <p:nvPr/>
        </p:nvSpPr>
        <p:spPr>
          <a:xfrm>
            <a:off x="3863340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1" name="Shape 29"/>
          <p:cNvSpPr/>
          <p:nvPr/>
        </p:nvSpPr>
        <p:spPr>
          <a:xfrm>
            <a:off x="4178808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2" name="Shape 30"/>
          <p:cNvSpPr/>
          <p:nvPr/>
        </p:nvSpPr>
        <p:spPr>
          <a:xfrm>
            <a:off x="4494276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9744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4" name="Shape 32"/>
          <p:cNvSpPr/>
          <p:nvPr/>
        </p:nvSpPr>
        <p:spPr>
          <a:xfrm>
            <a:off x="5125212" y="302895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4128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6" name="Shape 34"/>
          <p:cNvSpPr/>
          <p:nvPr/>
        </p:nvSpPr>
        <p:spPr>
          <a:xfrm>
            <a:off x="1339596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7" name="Shape 35"/>
          <p:cNvSpPr/>
          <p:nvPr/>
        </p:nvSpPr>
        <p:spPr>
          <a:xfrm>
            <a:off x="1655064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8" name="Shape 36"/>
          <p:cNvSpPr/>
          <p:nvPr/>
        </p:nvSpPr>
        <p:spPr>
          <a:xfrm>
            <a:off x="1970532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39" name="Shape 37"/>
          <p:cNvSpPr/>
          <p:nvPr/>
        </p:nvSpPr>
        <p:spPr>
          <a:xfrm>
            <a:off x="2286000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0" name="Shape 38"/>
          <p:cNvSpPr/>
          <p:nvPr/>
        </p:nvSpPr>
        <p:spPr>
          <a:xfrm>
            <a:off x="2601468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1" name="Shape 39"/>
          <p:cNvSpPr/>
          <p:nvPr/>
        </p:nvSpPr>
        <p:spPr>
          <a:xfrm>
            <a:off x="2916936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2" name="Shape 40"/>
          <p:cNvSpPr/>
          <p:nvPr/>
        </p:nvSpPr>
        <p:spPr>
          <a:xfrm>
            <a:off x="3232404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3" name="Shape 41"/>
          <p:cNvSpPr/>
          <p:nvPr/>
        </p:nvSpPr>
        <p:spPr>
          <a:xfrm>
            <a:off x="3547872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4" name="Shape 42"/>
          <p:cNvSpPr/>
          <p:nvPr/>
        </p:nvSpPr>
        <p:spPr>
          <a:xfrm>
            <a:off x="3863340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5" name="Shape 43"/>
          <p:cNvSpPr/>
          <p:nvPr/>
        </p:nvSpPr>
        <p:spPr>
          <a:xfrm>
            <a:off x="4178808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6" name="Shape 44"/>
          <p:cNvSpPr/>
          <p:nvPr/>
        </p:nvSpPr>
        <p:spPr>
          <a:xfrm>
            <a:off x="4494276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7" name="Shape 45"/>
          <p:cNvSpPr/>
          <p:nvPr/>
        </p:nvSpPr>
        <p:spPr>
          <a:xfrm>
            <a:off x="4809744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8" name="Shape 46"/>
          <p:cNvSpPr/>
          <p:nvPr/>
        </p:nvSpPr>
        <p:spPr>
          <a:xfrm>
            <a:off x="5125212" y="336042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4128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0" name="Shape 48"/>
          <p:cNvSpPr/>
          <p:nvPr/>
        </p:nvSpPr>
        <p:spPr>
          <a:xfrm>
            <a:off x="1339596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1" name="Shape 49"/>
          <p:cNvSpPr/>
          <p:nvPr/>
        </p:nvSpPr>
        <p:spPr>
          <a:xfrm>
            <a:off x="1655064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2" name="Shape 50"/>
          <p:cNvSpPr/>
          <p:nvPr/>
        </p:nvSpPr>
        <p:spPr>
          <a:xfrm>
            <a:off x="1970532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3" name="Shape 51"/>
          <p:cNvSpPr/>
          <p:nvPr/>
        </p:nvSpPr>
        <p:spPr>
          <a:xfrm>
            <a:off x="2286000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4" name="Shape 52"/>
          <p:cNvSpPr/>
          <p:nvPr/>
        </p:nvSpPr>
        <p:spPr>
          <a:xfrm>
            <a:off x="2601468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5" name="Shape 53"/>
          <p:cNvSpPr/>
          <p:nvPr/>
        </p:nvSpPr>
        <p:spPr>
          <a:xfrm>
            <a:off x="2916936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6" name="Shape 54"/>
          <p:cNvSpPr/>
          <p:nvPr/>
        </p:nvSpPr>
        <p:spPr>
          <a:xfrm>
            <a:off x="3232404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7" name="Shape 55"/>
          <p:cNvSpPr/>
          <p:nvPr/>
        </p:nvSpPr>
        <p:spPr>
          <a:xfrm>
            <a:off x="3547872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8" name="Shape 56"/>
          <p:cNvSpPr/>
          <p:nvPr/>
        </p:nvSpPr>
        <p:spPr>
          <a:xfrm>
            <a:off x="3863340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59" name="Shape 57"/>
          <p:cNvSpPr/>
          <p:nvPr/>
        </p:nvSpPr>
        <p:spPr>
          <a:xfrm>
            <a:off x="4178808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0" name="Shape 58"/>
          <p:cNvSpPr/>
          <p:nvPr/>
        </p:nvSpPr>
        <p:spPr>
          <a:xfrm>
            <a:off x="4494276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1" name="Shape 59"/>
          <p:cNvSpPr/>
          <p:nvPr/>
        </p:nvSpPr>
        <p:spPr>
          <a:xfrm>
            <a:off x="4809744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2" name="Shape 60"/>
          <p:cNvSpPr/>
          <p:nvPr/>
        </p:nvSpPr>
        <p:spPr>
          <a:xfrm>
            <a:off x="5125212" y="369189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4128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4" name="Shape 62"/>
          <p:cNvSpPr/>
          <p:nvPr/>
        </p:nvSpPr>
        <p:spPr>
          <a:xfrm>
            <a:off x="1339596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5" name="Shape 63"/>
          <p:cNvSpPr/>
          <p:nvPr/>
        </p:nvSpPr>
        <p:spPr>
          <a:xfrm>
            <a:off x="1655064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6" name="Shape 64"/>
          <p:cNvSpPr/>
          <p:nvPr/>
        </p:nvSpPr>
        <p:spPr>
          <a:xfrm>
            <a:off x="1970532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7" name="Shape 65"/>
          <p:cNvSpPr/>
          <p:nvPr/>
        </p:nvSpPr>
        <p:spPr>
          <a:xfrm>
            <a:off x="2286000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8" name="Shape 66"/>
          <p:cNvSpPr/>
          <p:nvPr/>
        </p:nvSpPr>
        <p:spPr>
          <a:xfrm>
            <a:off x="2601468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69" name="Shape 67"/>
          <p:cNvSpPr/>
          <p:nvPr/>
        </p:nvSpPr>
        <p:spPr>
          <a:xfrm>
            <a:off x="2916936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0" name="Shape 68"/>
          <p:cNvSpPr/>
          <p:nvPr/>
        </p:nvSpPr>
        <p:spPr>
          <a:xfrm>
            <a:off x="3232404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1" name="Shape 69"/>
          <p:cNvSpPr/>
          <p:nvPr/>
        </p:nvSpPr>
        <p:spPr>
          <a:xfrm>
            <a:off x="3547872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63340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3" name="Shape 71"/>
          <p:cNvSpPr/>
          <p:nvPr/>
        </p:nvSpPr>
        <p:spPr>
          <a:xfrm>
            <a:off x="4178808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4" name="Shape 72"/>
          <p:cNvSpPr/>
          <p:nvPr/>
        </p:nvSpPr>
        <p:spPr>
          <a:xfrm>
            <a:off x="4494276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5" name="Shape 73"/>
          <p:cNvSpPr/>
          <p:nvPr/>
        </p:nvSpPr>
        <p:spPr>
          <a:xfrm>
            <a:off x="4809744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6" name="Shape 74"/>
          <p:cNvSpPr/>
          <p:nvPr/>
        </p:nvSpPr>
        <p:spPr>
          <a:xfrm>
            <a:off x="5125212" y="402336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7" name="Shape 75"/>
          <p:cNvSpPr/>
          <p:nvPr/>
        </p:nvSpPr>
        <p:spPr>
          <a:xfrm>
            <a:off x="1024128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8" name="Shape 76"/>
          <p:cNvSpPr/>
          <p:nvPr/>
        </p:nvSpPr>
        <p:spPr>
          <a:xfrm>
            <a:off x="1339596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79" name="Shape 77"/>
          <p:cNvSpPr/>
          <p:nvPr/>
        </p:nvSpPr>
        <p:spPr>
          <a:xfrm>
            <a:off x="1655064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0" name="Shape 78"/>
          <p:cNvSpPr/>
          <p:nvPr/>
        </p:nvSpPr>
        <p:spPr>
          <a:xfrm>
            <a:off x="1970532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1" name="Shape 79"/>
          <p:cNvSpPr/>
          <p:nvPr/>
        </p:nvSpPr>
        <p:spPr>
          <a:xfrm>
            <a:off x="2286000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2" name="Shape 80"/>
          <p:cNvSpPr/>
          <p:nvPr/>
        </p:nvSpPr>
        <p:spPr>
          <a:xfrm>
            <a:off x="2601468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3" name="Shape 81"/>
          <p:cNvSpPr/>
          <p:nvPr/>
        </p:nvSpPr>
        <p:spPr>
          <a:xfrm>
            <a:off x="2916936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4" name="Shape 82"/>
          <p:cNvSpPr/>
          <p:nvPr/>
        </p:nvSpPr>
        <p:spPr>
          <a:xfrm>
            <a:off x="3232404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5" name="Shape 83"/>
          <p:cNvSpPr/>
          <p:nvPr/>
        </p:nvSpPr>
        <p:spPr>
          <a:xfrm>
            <a:off x="3547872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6" name="Shape 84"/>
          <p:cNvSpPr/>
          <p:nvPr/>
        </p:nvSpPr>
        <p:spPr>
          <a:xfrm>
            <a:off x="3863340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7" name="Shape 85"/>
          <p:cNvSpPr/>
          <p:nvPr/>
        </p:nvSpPr>
        <p:spPr>
          <a:xfrm>
            <a:off x="4178808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8" name="Shape 86"/>
          <p:cNvSpPr/>
          <p:nvPr/>
        </p:nvSpPr>
        <p:spPr>
          <a:xfrm>
            <a:off x="4494276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89" name="Shape 87"/>
          <p:cNvSpPr/>
          <p:nvPr/>
        </p:nvSpPr>
        <p:spPr>
          <a:xfrm>
            <a:off x="4809744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0" name="Shape 88"/>
          <p:cNvSpPr/>
          <p:nvPr/>
        </p:nvSpPr>
        <p:spPr>
          <a:xfrm>
            <a:off x="5125212" y="435483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1" name="Shape 89"/>
          <p:cNvSpPr/>
          <p:nvPr/>
        </p:nvSpPr>
        <p:spPr>
          <a:xfrm>
            <a:off x="1024128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2" name="Shape 90"/>
          <p:cNvSpPr/>
          <p:nvPr/>
        </p:nvSpPr>
        <p:spPr>
          <a:xfrm>
            <a:off x="1339596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3" name="Shape 91"/>
          <p:cNvSpPr/>
          <p:nvPr/>
        </p:nvSpPr>
        <p:spPr>
          <a:xfrm>
            <a:off x="1655064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4" name="Shape 92"/>
          <p:cNvSpPr/>
          <p:nvPr/>
        </p:nvSpPr>
        <p:spPr>
          <a:xfrm>
            <a:off x="1970532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5" name="Shape 93"/>
          <p:cNvSpPr/>
          <p:nvPr/>
        </p:nvSpPr>
        <p:spPr>
          <a:xfrm>
            <a:off x="2286000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6" name="Shape 94"/>
          <p:cNvSpPr/>
          <p:nvPr/>
        </p:nvSpPr>
        <p:spPr>
          <a:xfrm>
            <a:off x="2601468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7" name="Shape 95"/>
          <p:cNvSpPr/>
          <p:nvPr/>
        </p:nvSpPr>
        <p:spPr>
          <a:xfrm>
            <a:off x="2916936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8" name="Shape 96"/>
          <p:cNvSpPr/>
          <p:nvPr/>
        </p:nvSpPr>
        <p:spPr>
          <a:xfrm>
            <a:off x="3232404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99" name="Shape 97"/>
          <p:cNvSpPr/>
          <p:nvPr/>
        </p:nvSpPr>
        <p:spPr>
          <a:xfrm>
            <a:off x="3547872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0" name="Shape 98"/>
          <p:cNvSpPr/>
          <p:nvPr/>
        </p:nvSpPr>
        <p:spPr>
          <a:xfrm>
            <a:off x="3863340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178808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494276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809744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125212" y="468630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339596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655064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970532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286000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601468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916936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232404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547872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863340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178808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494276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809744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125212" y="5017770"/>
            <a:ext cx="274320" cy="285750"/>
          </a:xfrm>
          <a:prstGeom prst="rect">
            <a:avLst/>
          </a:prstGeom>
          <a:solidFill>
            <a:srgbClr val="56629E"/>
          </a:solidFill>
          <a:ln/>
        </p:spPr>
      </p:sp>
      <p:sp>
        <p:nvSpPr>
          <p:cNvPr id="119" name="Text 117"/>
          <p:cNvSpPr/>
          <p:nvPr/>
        </p:nvSpPr>
        <p:spPr>
          <a:xfrm>
            <a:off x="914400" y="5577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— never loaded into the browser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5806440" y="3566160"/>
            <a:ext cx="594360" cy="4572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21" name="Text 119"/>
          <p:cNvSpPr/>
          <p:nvPr/>
        </p:nvSpPr>
        <p:spPr>
          <a:xfrm>
            <a:off x="5623560" y="4069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Postgres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6492240" y="17373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CADCFC"/>
          </a:solidFill>
          <a:ln/>
        </p:spPr>
      </p:sp>
      <p:sp>
        <p:nvSpPr>
          <p:cNvPr id="123" name="Text 121"/>
          <p:cNvSpPr/>
          <p:nvPr/>
        </p:nvSpPr>
        <p:spPr>
          <a:xfrm>
            <a:off x="676656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aggregated result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6766560" y="2606040"/>
            <a:ext cx="4526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766560" y="3154680"/>
            <a:ext cx="4526280" cy="438912"/>
          </a:xfrm>
          <a:prstGeom prst="rect">
            <a:avLst/>
          </a:prstGeom>
          <a:solidFill>
            <a:srgbClr val="E4ECF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766560" y="3703320"/>
            <a:ext cx="4526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766560" y="4251960"/>
            <a:ext cx="4526280" cy="438912"/>
          </a:xfrm>
          <a:prstGeom prst="rect">
            <a:avLst/>
          </a:prstGeom>
          <a:solidFill>
            <a:srgbClr val="E4ECF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766560" y="4800600"/>
            <a:ext cx="4526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7"/>
          <p:cNvSpPr/>
          <p:nvPr/>
        </p:nvSpPr>
        <p:spPr>
          <a:xfrm>
            <a:off x="6766560" y="260604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Month × Category × Slab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6766560" y="315468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COUNT / MIN / MAX pre-computed</a:t>
            </a:r>
            <a:endParaRPr lang="en-US" sz="1050" dirty="0"/>
          </a:p>
        </p:txBody>
      </p:sp>
      <p:sp>
        <p:nvSpPr>
          <p:cNvPr id="131" name="Text 129"/>
          <p:cNvSpPr/>
          <p:nvPr/>
        </p:nvSpPr>
        <p:spPr>
          <a:xfrm>
            <a:off x="6766560" y="370332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— not millions — of rows</a:t>
            </a:r>
            <a:endParaRPr lang="en-US" sz="1050" dirty="0"/>
          </a:p>
        </p:txBody>
      </p:sp>
      <p:sp>
        <p:nvSpPr>
          <p:cNvPr id="132" name="Text 130"/>
          <p:cNvSpPr/>
          <p:nvPr/>
        </p:nvSpPr>
        <p:spPr>
          <a:xfrm>
            <a:off x="6766560" y="425196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pivot, fast to chart, fast to export</a:t>
            </a:r>
            <a:endParaRPr lang="en-US" sz="1050" dirty="0"/>
          </a:p>
        </p:txBody>
      </p:sp>
      <p:sp>
        <p:nvSpPr>
          <p:cNvPr id="133" name="Text 131"/>
          <p:cNvSpPr/>
          <p:nvPr/>
        </p:nvSpPr>
        <p:spPr>
          <a:xfrm>
            <a:off x="6766560" y="480060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for the table, the chart, and the CSV</a:t>
            </a:r>
            <a:endParaRPr lang="en-US" sz="1050" dirty="0"/>
          </a:p>
        </p:txBody>
      </p:sp>
      <p:sp>
        <p:nvSpPr>
          <p:cNvPr id="134" name="Text 13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timestamp fields are also auto-bucketed by month inside the same query — mirroring Excel's automatic date grouping, but computed server-side.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Excel's PivotTable — without the manual dragging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92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Filters, Rows, Columns, Values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22128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columns for each area — same mental model as Excel's PivotTable field list.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898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Values at once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25880" y="321868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 "Sum of X" and "Sum of Y" side by side, just like Excel's Values area — built dynamically, no manual duplication.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904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subtotals &amp; Grand Total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25880" y="42245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totals and a Grand Total row/column are always added and kept correct — no manual SUM formulas to drag or fix.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937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910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DPD buckets, one click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52303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/ 30+ / 90+ delinquency macro-categories are computed automatically from the raw slabs — a formula analysts previously built by hand, every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1691640"/>
            <a:ext cx="5742432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1874520"/>
            <a:ext cx="5193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Summary Matrix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2377440"/>
            <a:ext cx="1038758" cy="45720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377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10958" y="2377440"/>
            <a:ext cx="1038758" cy="45720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0958" y="2377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49717" y="2377440"/>
            <a:ext cx="1038758" cy="45720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9717" y="2377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88475" y="2377440"/>
            <a:ext cx="1038758" cy="45720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8475" y="2377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27234" y="2377440"/>
            <a:ext cx="1038758" cy="45720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27234" y="2377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28346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8346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10958" y="28346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10958" y="28346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49717" y="28346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9717" y="28346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1,709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88475" y="28346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88475" y="28346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327234" y="28346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27234" y="28346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6,698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32918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2918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10958" y="32918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10958" y="32918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4,277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49717" y="32918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49717" y="32918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1,744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288475" y="32918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8475" y="32918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327234" y="32918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27234" y="32918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6,619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72200" y="37490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37490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210958" y="37490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10958" y="37490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3,940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249717" y="37490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49717" y="37490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288475" y="37490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88475" y="37490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327234" y="37490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27234" y="37490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6,091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72200" y="42062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72200" y="42062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210958" y="42062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10958" y="42062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5,904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249717" y="42062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49717" y="42062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2,215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288475" y="42062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88475" y="42062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0327234" y="4206240"/>
            <a:ext cx="1038758" cy="457200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327234" y="42062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8,753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72200" y="4663440"/>
            <a:ext cx="1038758" cy="457200"/>
          </a:xfrm>
          <a:prstGeom prst="rect">
            <a:avLst/>
          </a:prstGeom>
          <a:solidFill>
            <a:srgbClr val="2E3A7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72200" y="4663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210958" y="4663440"/>
            <a:ext cx="1038758" cy="457200"/>
          </a:xfrm>
          <a:prstGeom prst="rect">
            <a:avLst/>
          </a:prstGeom>
          <a:solidFill>
            <a:srgbClr val="2E3A7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10958" y="4663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18,498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249717" y="4663440"/>
            <a:ext cx="1038758" cy="457200"/>
          </a:xfrm>
          <a:prstGeom prst="rect">
            <a:avLst/>
          </a:prstGeom>
          <a:solidFill>
            <a:srgbClr val="2E3A7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49717" y="4663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7,248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9288475" y="4663440"/>
            <a:ext cx="1038758" cy="457200"/>
          </a:xfrm>
          <a:prstGeom prst="rect">
            <a:avLst/>
          </a:prstGeom>
          <a:solidFill>
            <a:srgbClr val="2E3A7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288475" y="4663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2,415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10327234" y="4663440"/>
            <a:ext cx="1038758" cy="457200"/>
          </a:xfrm>
          <a:prstGeom prst="rect">
            <a:avLst/>
          </a:prstGeom>
          <a:solidFill>
            <a:srgbClr val="2E3A7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327234" y="4663440"/>
            <a:ext cx="10387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28,161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6172200" y="5257800"/>
            <a:ext cx="5193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illustrative — shape mirrors the app's real DPD bucket output.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EFFICIENCY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totals into % share — without a single formula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which field to normalize against, and every cell is expressed as a % of that field's group total — the exact "divide this by that" math analysts used to write and copy by hand, now built into the pivot itself.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app's way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834640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D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34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=B2/(B2+C2+D2)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into one cell, then dragged across every row and every column — re-checked by hand whenever a total changes.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wrong once — a dragged formula pointing at the wrong cell — and it's wrong everywhere it was copied, silently.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5C7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field to normalize by: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29400" y="3127248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31272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STAGE_ECL  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3794760"/>
            <a:ext cx="1120140" cy="438912"/>
          </a:xfrm>
          <a:prstGeom prst="rect">
            <a:avLst/>
          </a:prstGeom>
          <a:solidFill>
            <a:srgbClr val="3E4C99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794760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49540" y="3794760"/>
            <a:ext cx="1120140" cy="438912"/>
          </a:xfrm>
          <a:prstGeom prst="rect">
            <a:avLst/>
          </a:prstGeom>
          <a:solidFill>
            <a:srgbClr val="3E4C99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9540" y="3794760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680" y="3794760"/>
            <a:ext cx="1120140" cy="438912"/>
          </a:xfrm>
          <a:prstGeom prst="rect">
            <a:avLst/>
          </a:prstGeom>
          <a:solidFill>
            <a:srgbClr val="3E4C99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3794760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989820" y="3794760"/>
            <a:ext cx="1120140" cy="438912"/>
          </a:xfrm>
          <a:prstGeom prst="rect">
            <a:avLst/>
          </a:prstGeom>
          <a:solidFill>
            <a:srgbClr val="3E4C99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89820" y="3794760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4233672"/>
            <a:ext cx="1120140" cy="438912"/>
          </a:xfrm>
          <a:prstGeom prst="rect">
            <a:avLst/>
          </a:prstGeom>
          <a:solidFill>
            <a:srgbClr val="2E3A7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233672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49540" y="4233672"/>
            <a:ext cx="1120140" cy="438912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49540" y="4233672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69680" y="4233672"/>
            <a:ext cx="1120140" cy="438912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4233672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89820" y="4233672"/>
            <a:ext cx="1120140" cy="438912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89820" y="4233672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29400" y="4672584"/>
            <a:ext cx="1120140" cy="438912"/>
          </a:xfrm>
          <a:prstGeom prst="rect">
            <a:avLst/>
          </a:prstGeom>
          <a:solidFill>
            <a:srgbClr val="2E3A7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672584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49540" y="4672584"/>
            <a:ext cx="1120140" cy="438912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49540" y="4672584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69680" y="4672584"/>
            <a:ext cx="1120140" cy="438912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4672584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89820" y="4672584"/>
            <a:ext cx="1120140" cy="438912"/>
          </a:xfrm>
          <a:prstGeom prst="rect">
            <a:avLst/>
          </a:prstGeom>
          <a:solidFill>
            <a:srgbClr val="27358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89820" y="4672584"/>
            <a:ext cx="1120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29400" y="529437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still adds up to 100% automatically — including the Total row and column.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VS. MANUAL EXCEL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manual steps, fewer places to make a mistake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607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874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1874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the shared drive for the right exported 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33172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picked from a live dropdown — no file 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9008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pivot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99008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fields into Rows / Columns / Values by hand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990088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fields in the sidebar — the table builds itself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4845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totals &amp; subtotals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64845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copy SUM formulas down every column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364845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Subtotals and Grand Total are automatic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% of 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4306824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divide formula, then copy it to every cell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4306824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normalize field — every cell is % automatically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5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6519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DPD buckets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496519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written 1+/30+/90+ formulas per sheet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4965192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checkbox — computed the same way every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62356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result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562356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 spreadsheet file around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562356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ready CSV, or view it live in the browser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GOVERNANCE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doesn't mean loose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E3A7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Parameterized queries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report queries use bound parameters, not pasted-together text — the standard defense against SQL injection.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E3A7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057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0574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 stay out of the code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details come from environment variables / secrets, never hard-coded in the app.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E3A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Pooled, monitored connections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health-checked connection pool is reused — dead connections are detected and recycled automatically.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E3A7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0233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Read-oriented by design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4572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Builder and Pivot screens only ever SELECT and aggregate data — they don't modify the underlying tables.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3E4C9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559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the Custom SQL tab: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advanced, trusted-user feature that runs arbitrary SQL with the configured DB account's privileges — same access level as connecting to the database directly, so it should be limited to people who'd already have that access.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011680"/>
            <a:ext cx="5029200" cy="502920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that used to take a spreadsheet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takes a sidebar.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2E3A7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108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screens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Builder, Pivot, Custom SQL — one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8803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2E3A7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3108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29000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 report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43891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happens once, in the database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8803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2E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108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pivot dragging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/ Columns / Values chosen, table builds itself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78240" y="28803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2E3A7A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108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15400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bucketing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61120" y="43891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/ 30+ / 90+ computed the same way, every 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 live demo.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Explorer &amp; Report Generator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2026-08-28T08:36:59Z</dcterms:created>
  <dcterms:modified xsi:type="dcterms:W3CDTF">2026-08-28T08:36:59Z</dcterms:modified>
</cp:coreProperties>
</file>